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283741"/>
                </a:solidFill>
              </a:defRPr>
            </a:pPr>
            <a:r>
              <a:t>Norms, Angles,</a:t>
            </a:r>
            <a:br/>
            <a:r>
              <a:t>and Your Movie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4696E"/>
                </a:solidFill>
              </a:defRPr>
            </a:pPr>
            <a:r>
              <a:t>Linear Algebra Based Movie 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37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83741"/>
                </a:solidFill>
              </a:defRPr>
            </a:pPr>
            <a:r>
              <a:t>Mini Project | MFAD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69080"/>
            <a:ext cx="5029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</a:defRPr>
            </a:pPr>
            <a:r>
              <a:rPr dirty="0"/>
              <a:t>Team Members:</a:t>
            </a:r>
            <a:br>
              <a:rPr dirty="0"/>
            </a:br>
            <a:r>
              <a:rPr dirty="0"/>
              <a:t>1. </a:t>
            </a:r>
            <a:r>
              <a:rPr lang="en-IN" dirty="0"/>
              <a:t>Kritika Singh</a:t>
            </a:r>
            <a:br>
              <a:rPr dirty="0"/>
            </a:br>
            <a:r>
              <a:rPr dirty="0"/>
              <a:t>2. </a:t>
            </a:r>
            <a:r>
              <a:rPr lang="en-IN" dirty="0"/>
              <a:t>Ishita Gulati</a:t>
            </a:r>
            <a:br>
              <a:rPr dirty="0"/>
            </a:br>
            <a:r>
              <a:rPr dirty="0"/>
              <a:t>3. </a:t>
            </a:r>
            <a:r>
              <a:rPr lang="en-IN" dirty="0"/>
              <a:t>Hemal S</a:t>
            </a:r>
            <a:br>
              <a:rPr dirty="0"/>
            </a:br>
            <a:r>
              <a:rPr dirty="0"/>
              <a:t>4. </a:t>
            </a:r>
            <a:r>
              <a:rPr lang="en-IN" dirty="0"/>
              <a:t>Janaki Niharika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0800" y="4297680"/>
            <a:ext cx="4389120" cy="7772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r>
              <a:t>Python • NumPy • SciPy • Matplotlib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Use movie ratings to represent user preferences mathematically.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Represent each user using a 20-dimensional rating vector.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Find users with similar preferences.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Use the similar users to recommend movies.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t>• Compare Euclidean distance and Pearson correlation.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5212080"/>
            <a:ext cx="9875520" cy="73152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83741"/>
                </a:solidFill>
              </a:defRPr>
            </a:pPr>
            <a:r>
              <a:t>Ratings → Vectors → Similarity → Similar User →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2. Dataset and Matrix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Dataset file: </a:t>
            </a:r>
            <a:r>
              <a:rPr dirty="0" err="1"/>
              <a:t>users_movies.mat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Full dataset: 6040 users × 3952 movies.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Selected working matrix: 6040 users × 20 selected movies.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Rows represent users; columns represent selected movies.</a:t>
            </a:r>
          </a:p>
          <a:p>
            <a:pPr>
              <a:spcAft>
                <a:spcPts val="800"/>
              </a:spcAft>
              <a:defRPr sz="1700">
                <a:solidFill>
                  <a:srgbClr val="2D2D2D"/>
                </a:solidFill>
              </a:defRPr>
            </a:pPr>
            <a:r>
              <a:rPr dirty="0"/>
              <a:t>• Each matrix entry is a movie rating.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234440"/>
            <a:ext cx="5303520" cy="292608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AFAFA"/>
                </a:solidFill>
                <a:latin typeface="Consolas"/>
              </a:defRPr>
            </a:pPr>
            <a:r>
              <a:rPr dirty="0"/>
              <a:t># Execute in project root</a:t>
            </a:r>
            <a:br>
              <a:rPr dirty="0"/>
            </a:br>
            <a:br>
              <a:rPr dirty="0"/>
            </a:br>
            <a:r>
              <a:rPr lang="en-IN" dirty="0"/>
              <a:t>import scipy.io</a:t>
            </a:r>
            <a:br>
              <a:rPr lang="en-IN" dirty="0"/>
            </a:br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 = </a:t>
            </a:r>
            <a:r>
              <a:rPr lang="en-IN" dirty="0" err="1"/>
              <a:t>scipy.io.loadmat</a:t>
            </a:r>
            <a:r>
              <a:rPr lang="en-IN" dirty="0"/>
              <a:t>("data/users_movies.mat",</a:t>
            </a:r>
            <a:r>
              <a:rPr lang="en-IN" dirty="0" err="1"/>
              <a:t>squeeze_me</a:t>
            </a:r>
            <a:r>
              <a:rPr lang="en-IN" dirty="0"/>
              <a:t>=True,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struct_as_record</a:t>
            </a:r>
            <a:r>
              <a:rPr lang="en-IN" dirty="0"/>
              <a:t>=False</a:t>
            </a:r>
            <a:br>
              <a:rPr lang="en-IN" dirty="0"/>
            </a:b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print(d["</a:t>
            </a:r>
            <a:r>
              <a:rPr lang="en-IN" dirty="0" err="1"/>
              <a:t>users_movies_sort</a:t>
            </a:r>
            <a:r>
              <a:rPr lang="en-IN" dirty="0"/>
              <a:t>"].shape)</a:t>
            </a:r>
            <a:br>
              <a:rPr lang="en-IN" dirty="0"/>
            </a:br>
            <a:r>
              <a:rPr lang="en-IN" dirty="0"/>
              <a:t>print(d["</a:t>
            </a:r>
            <a:r>
              <a:rPr lang="en-IN" dirty="0" err="1"/>
              <a:t>trial_user</a:t>
            </a:r>
            <a:r>
              <a:rPr lang="en-IN" dirty="0"/>
              <a:t>"])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94736" y="4555735"/>
            <a:ext cx="10241280" cy="1436263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7650693-5083-BE26-B754-6672053EC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59" y="4647174"/>
            <a:ext cx="6735097" cy="12128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E4B253-1250-870B-162E-7B8C20C7FD2D}"/>
              </a:ext>
            </a:extLst>
          </p:cNvPr>
          <p:cNvSpPr txBox="1"/>
          <p:nvPr/>
        </p:nvSpPr>
        <p:spPr>
          <a:xfrm>
            <a:off x="1032387" y="4145869"/>
            <a:ext cx="1769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Output-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15FE6-0D1B-3723-43F1-0F52C750CB4A}"/>
              </a:ext>
            </a:extLst>
          </p:cNvPr>
          <p:cNvSpPr txBox="1"/>
          <p:nvPr/>
        </p:nvSpPr>
        <p:spPr>
          <a:xfrm>
            <a:off x="6587613" y="844841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Code-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3. Data Filtering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155448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AFAFA"/>
                </a:solidFill>
                <a:latin typeface="Consolas"/>
              </a:defRPr>
            </a:pPr>
            <a:r>
              <a:t>def filter_complete_raters(ratings_20):</a:t>
            </a:r>
            <a:br/>
            <a:r>
              <a:t>    mask = np.all(ratings_20 != 0, axis=1)</a:t>
            </a:r>
            <a:br/>
            <a:r>
              <a:t>    return ratings_20[mask], mask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234440"/>
            <a:ext cx="5212080" cy="182880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AFAFA"/>
                </a:solidFill>
                <a:latin typeface="Consolas"/>
              </a:defRPr>
            </a:pPr>
            <a:r>
              <a:t>ratings = d["users_movies_sort"]</a:t>
            </a:r>
            <a:br/>
            <a:r>
              <a:t>mask = np.all(ratings != 0, axis=1)</a:t>
            </a:r>
            <a:br/>
            <a:br/>
            <a:r>
              <a:t>print("Before:", ratings.shape)</a:t>
            </a:r>
            <a:br/>
            <a:r>
              <a:t>print("Complete users:", np.sum(mask))</a:t>
            </a:r>
            <a:br/>
            <a:r>
              <a:t>print("After:", ratings[mask].shape)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83741"/>
                </a:solidFill>
              </a:defRPr>
            </a:pPr>
            <a:r>
              <a:t>Why?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0 means the movie was not rated.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Similarity calculations need a complete 20-value vector.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Filtering leaves only users with all 20 ratings.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794760"/>
            <a:ext cx="4937760" cy="1740408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C45849-D3E1-00BF-C62D-C04EFC9B9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488" y="3977614"/>
            <a:ext cx="4437887" cy="12161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4. User Rating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03520" cy="164592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AFAFA"/>
                </a:solidFill>
                <a:latin typeface="Consolas"/>
              </a:defRPr>
            </a:pPr>
            <a:r>
              <a:t>trial = np.asarray(</a:t>
            </a:r>
            <a:br/>
            <a:r>
              <a:t>    d["trial_user"]</a:t>
            </a:r>
            <a:br/>
            <a:r>
              <a:t>).flatten()</a:t>
            </a:r>
            <a:br/>
            <a:br/>
            <a:r>
              <a:t>print("Trial user:", trial)</a:t>
            </a:r>
            <a:br/>
            <a:r>
              <a:t>print("Number of ratings:", len(trial))</a:t>
            </a:r>
            <a:br/>
            <a:r>
              <a:t>print("Mean:", trial.mean())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Vector dimension = 20.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Each position corresponds to one selected movie.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This vector is the query used for similarity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24100" y="3474720"/>
            <a:ext cx="7353300" cy="19202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94C4E13-C915-D2B0-9700-7B046416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1" y="3637935"/>
            <a:ext cx="5806439" cy="1622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5. Linear Algebra Concept —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83741"/>
                </a:solidFill>
              </a:defRPr>
            </a:pPr>
            <a:r>
              <a:t>d(x,y) = ||x − y||₂ = √Σ(xᵢ − yᵢ)²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5303520" cy="146304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AFAFA"/>
                </a:solidFill>
                <a:latin typeface="Consolas"/>
              </a:defRPr>
            </a:pPr>
            <a:r>
              <a:rPr lang="en-IN" sz="1400" dirty="0">
                <a:solidFill>
                  <a:srgbClr val="FAFAFA"/>
                </a:solidFill>
                <a:latin typeface="Consolas"/>
              </a:rPr>
              <a:t>distances =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np.linalg.norm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(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complete_ratings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 -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trial_user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, axis=1 )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user_indices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 =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np.where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(mask)[0]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best_euclidean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 = </a:t>
            </a:r>
            <a:r>
              <a:rPr lang="en-IN" sz="1400" dirty="0" err="1">
                <a:solidFill>
                  <a:srgbClr val="FAFAFA"/>
                </a:solidFill>
                <a:latin typeface="Consolas"/>
              </a:rPr>
              <a:t>np.argsort</a:t>
            </a:r>
            <a:r>
              <a:rPr lang="en-IN" sz="1400" dirty="0">
                <a:solidFill>
                  <a:srgbClr val="FAFAFA"/>
                </a:solidFill>
                <a:latin typeface="Consolas"/>
              </a:rPr>
              <a:t>(distances)[:5]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401292" y="2103366"/>
            <a:ext cx="5212080" cy="1371108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AFAFA"/>
                </a:solidFill>
                <a:latin typeface="Consolas"/>
              </a:defRPr>
            </a:pPr>
            <a:r>
              <a:rPr lang="en-IN" sz="1300" dirty="0">
                <a:solidFill>
                  <a:srgbClr val="FAFAFA"/>
                </a:solidFill>
                <a:latin typeface="Consolas"/>
              </a:rPr>
              <a:t>print("Top 5 Euclidean matches:") for </a:t>
            </a:r>
            <a:r>
              <a:rPr lang="en-IN" sz="1300" dirty="0" err="1">
                <a:solidFill>
                  <a:srgbClr val="FAFAFA"/>
                </a:solidFill>
                <a:latin typeface="Consolas"/>
              </a:rPr>
              <a:t>i</a:t>
            </a:r>
            <a:r>
              <a:rPr lang="en-IN" sz="1300" dirty="0">
                <a:solidFill>
                  <a:srgbClr val="FAFAFA"/>
                </a:solidFill>
                <a:latin typeface="Consolas"/>
              </a:rPr>
              <a:t> in </a:t>
            </a:r>
            <a:r>
              <a:rPr lang="en-IN" sz="1300" dirty="0" err="1">
                <a:solidFill>
                  <a:srgbClr val="FAFAFA"/>
                </a:solidFill>
                <a:latin typeface="Consolas"/>
              </a:rPr>
              <a:t>best_euclidean</a:t>
            </a:r>
            <a:r>
              <a:rPr lang="en-IN" sz="1300" dirty="0">
                <a:solidFill>
                  <a:srgbClr val="FAFAFA"/>
                </a:solidFill>
                <a:latin typeface="Consolas"/>
              </a:rPr>
              <a:t>: print( "User", </a:t>
            </a:r>
            <a:r>
              <a:rPr lang="en-IN" sz="1300" dirty="0" err="1">
                <a:solidFill>
                  <a:srgbClr val="FAFAFA"/>
                </a:solidFill>
                <a:latin typeface="Consolas"/>
              </a:rPr>
              <a:t>user_indices</a:t>
            </a:r>
            <a:r>
              <a:rPr lang="en-IN" sz="1300" dirty="0">
                <a:solidFill>
                  <a:srgbClr val="FAFAFA"/>
                </a:solidFill>
                <a:latin typeface="Consolas"/>
              </a:rPr>
              <a:t>[</a:t>
            </a:r>
            <a:r>
              <a:rPr lang="en-IN" sz="1300" dirty="0" err="1">
                <a:solidFill>
                  <a:srgbClr val="FAFAFA"/>
                </a:solidFill>
                <a:latin typeface="Consolas"/>
              </a:rPr>
              <a:t>i</a:t>
            </a:r>
            <a:r>
              <a:rPr lang="en-IN" sz="1300" dirty="0">
                <a:solidFill>
                  <a:srgbClr val="FAFAFA"/>
                </a:solidFill>
                <a:latin typeface="Consolas"/>
              </a:rPr>
              <a:t>], "Distance =", round(distances[</a:t>
            </a:r>
            <a:r>
              <a:rPr lang="en-IN" sz="1300" dirty="0" err="1">
                <a:solidFill>
                  <a:srgbClr val="FAFAFA"/>
                </a:solidFill>
                <a:latin typeface="Consolas"/>
              </a:rPr>
              <a:t>i</a:t>
            </a:r>
            <a:r>
              <a:rPr lang="en-IN" sz="1300" dirty="0">
                <a:solidFill>
                  <a:srgbClr val="FAFAFA"/>
                </a:solidFill>
                <a:latin typeface="Consolas"/>
              </a:rPr>
              <a:t>], 3) )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3741"/>
                </a:solidFill>
              </a:defRPr>
            </a:pPr>
            <a:r>
              <a:t>Interpretation: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140" y="416052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Smaller distance = more similar exact ratings.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np.linalg.norm() calculates the L₂ norm.</a:t>
            </a:r>
          </a:p>
          <a:p>
            <a:pPr>
              <a:spcAft>
                <a:spcPts val="800"/>
              </a:spcAft>
              <a:defRPr sz="1500">
                <a:solidFill>
                  <a:srgbClr val="2D2D2D"/>
                </a:solidFill>
              </a:defRPr>
            </a:pPr>
            <a:r>
              <a:t>• Nearest user is the first result after sorting.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023360"/>
            <a:ext cx="4937760" cy="2298782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F216BB-834C-19E2-B0FD-ED047DEC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72" y="4160520"/>
            <a:ext cx="4247534" cy="18961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6. Mean Centering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83741"/>
                </a:solidFill>
              </a:defRPr>
            </a:pPr>
            <a:r>
              <a:t>Centered value = rating − user's mean rating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5303520" cy="150876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FAFAFA"/>
                </a:solidFill>
                <a:latin typeface="Consolas"/>
              </a:defRPr>
            </a:pPr>
            <a:r>
              <a:t>def center_rows(X):</a:t>
            </a:r>
            <a:br/>
            <a:r>
              <a:t>    row_means = X.mean(</a:t>
            </a:r>
            <a:br/>
            <a:r>
              <a:t>        axis=1,</a:t>
            </a:r>
            <a:br/>
            <a:r>
              <a:t>        keepdims=True</a:t>
            </a:r>
            <a:br/>
            <a:r>
              <a:t>    )</a:t>
            </a:r>
            <a:br/>
            <a:r>
              <a:t>    return X - row_means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4846320" cy="12344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3741"/>
                </a:solidFill>
              </a:defRPr>
            </a:pPr>
            <a:r>
              <a:t>Example</a:t>
            </a:r>
            <a:br/>
            <a:r>
              <a:t>[5, 4, 3] → mean 4 → [ +1, 0, −1 ]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Centering is done row by row.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After centering, values show whether a movie is above or below that user's average.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This centered data is used for Pearson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7. Linear Algebra Concept — Pearson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83741"/>
                </a:solidFill>
              </a:defRPr>
            </a:pPr>
            <a:r>
              <a:t>r = (xᶜ · yᶜ) / (||xᶜ|| ||yᶜ||)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577840" cy="210312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FAFAFA"/>
                </a:solidFill>
                <a:latin typeface="Consolas"/>
              </a:defRPr>
            </a:pPr>
            <a:r>
              <a:t>def pearson_similarity(ratings_cent, query_cent):</a:t>
            </a:r>
            <a:br/>
            <a:r>
              <a:t>    numerator = ratings_cent @ query_cent</a:t>
            </a:r>
            <a:br/>
            <a:r>
              <a:t>    denominator = (</a:t>
            </a:r>
            <a:br/>
            <a:r>
              <a:t>        np.linalg.norm(ratings_cent, axis=1)</a:t>
            </a:r>
            <a:br/>
            <a:r>
              <a:t>        * np.linalg.norm(query_cent)</a:t>
            </a:r>
            <a:br/>
            <a:r>
              <a:t>    )</a:t>
            </a:r>
            <a:br/>
            <a:r>
              <a:t>    return numerator / denominator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43219"/>
            <a:ext cx="5029200" cy="150876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FAFAFA"/>
                </a:solidFill>
                <a:latin typeface="Consolas"/>
              </a:defRPr>
            </a:pPr>
            <a:r>
              <a:rPr dirty="0" err="1"/>
              <a:t>pearson</a:t>
            </a:r>
            <a:r>
              <a:rPr dirty="0"/>
              <a:t> = numerator / denominator</a:t>
            </a:r>
            <a:br>
              <a:rPr dirty="0"/>
            </a:br>
            <a:r>
              <a:rPr dirty="0"/>
              <a:t>order = </a:t>
            </a:r>
            <a:r>
              <a:rPr dirty="0" err="1"/>
              <a:t>np.argsort</a:t>
            </a:r>
            <a:r>
              <a:rPr dirty="0"/>
              <a:t>(-</a:t>
            </a:r>
            <a:r>
              <a:rPr dirty="0" err="1"/>
              <a:t>pearson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order[:5]:</a:t>
            </a:r>
            <a:br>
              <a:rPr dirty="0"/>
            </a:br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, </a:t>
            </a:r>
            <a:r>
              <a:rPr dirty="0" err="1"/>
              <a:t>pearson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080" y="4480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83741"/>
                </a:solidFill>
              </a:defRPr>
            </a:pPr>
            <a:r>
              <a:rPr dirty="0"/>
              <a:t>Higher positive value → stronger preference-pattern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4132158"/>
            <a:ext cx="4937760" cy="187452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8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FB093E-53B0-2FBC-1E1B-2B4E248E2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4286865"/>
            <a:ext cx="43434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8. Comparison of Similarity Methods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12344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3741"/>
                </a:solidFill>
              </a:defRPr>
            </a:pPr>
            <a:r>
              <a:rPr dirty="0"/>
              <a:t>EUCLIDEAN</a:t>
            </a:r>
            <a:br>
              <a:rPr dirty="0"/>
            </a:br>
            <a:r>
              <a:rPr dirty="0"/>
              <a:t>Best User: </a:t>
            </a:r>
            <a:r>
              <a:rPr lang="en-IN" dirty="0"/>
              <a:t>User 13 </a:t>
            </a:r>
            <a:br>
              <a:rPr dirty="0"/>
            </a:br>
            <a:r>
              <a:rPr dirty="0"/>
              <a:t>Distance: </a:t>
            </a:r>
            <a:r>
              <a:rPr lang="en-IN" dirty="0"/>
              <a:t>5.657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383280" cy="12344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83741"/>
                </a:solidFill>
              </a:defRPr>
            </a:pPr>
            <a:r>
              <a:rPr dirty="0"/>
              <a:t>PEARSON</a:t>
            </a:r>
            <a:br>
              <a:rPr dirty="0"/>
            </a:br>
            <a:r>
              <a:rPr dirty="0"/>
              <a:t>Best User: </a:t>
            </a:r>
            <a:r>
              <a:rPr lang="en-IN" dirty="0"/>
              <a:t>User 87 </a:t>
            </a:r>
            <a:br>
              <a:rPr dirty="0"/>
            </a:br>
            <a:r>
              <a:rPr dirty="0"/>
              <a:t>Correlation: </a:t>
            </a:r>
            <a:r>
              <a:rPr lang="en-IN" dirty="0"/>
              <a:t>0.6290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383280" cy="123444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r>
              <a:rPr lang="en-IN" sz="1600" b="1" dirty="0">
                <a:solidFill>
                  <a:srgbClr val="283741"/>
                </a:solidFill>
              </a:rPr>
              <a:t>The two methods select different best users because they measure similarity differently.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83741"/>
                </a:solidFill>
              </a:defRPr>
            </a:pPr>
            <a:r>
              <a:t>Comparison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429000"/>
            <a:ext cx="3474720" cy="411480"/>
          </a:xfrm>
          <a:prstGeom prst="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429000"/>
            <a:ext cx="3474720" cy="411480"/>
          </a:xfrm>
          <a:prstGeom prst="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Euclidean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3429000"/>
            <a:ext cx="3474720" cy="411480"/>
          </a:xfrm>
          <a:prstGeom prst="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Pearson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67912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3867912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Original ratings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867912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Centered ratings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06824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Measure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4306824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Distance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4306824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Correlation / angle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745736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Best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4745736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rPr dirty="0"/>
              <a:t>Smaller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4745736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Closer to +1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84648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Bias removal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5184648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5184648"/>
            <a:ext cx="3474720" cy="411480"/>
          </a:xfrm>
          <a:prstGeom prst="rect">
            <a:avLst/>
          </a:prstGeom>
          <a:solidFill>
            <a:srgbClr val="FFFFFF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0">
                <a:solidFill>
                  <a:srgbClr val="2D2D2D"/>
                </a:solidFill>
              </a:defRPr>
            </a:pPr>
            <a:r>
              <a:t>Yes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9. Recommendation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1051560"/>
            <a:ext cx="5669280" cy="286844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 err="1"/>
              <a:t>titlesmovies</a:t>
            </a:r>
            <a:r>
              <a:rPr lang="en-US" dirty="0"/>
              <a:t> = </a:t>
            </a:r>
            <a:r>
              <a:rPr lang="en-US" dirty="0" err="1"/>
              <a:t>np.asarray</a:t>
            </a:r>
            <a:r>
              <a:rPr lang="en-US" dirty="0"/>
              <a:t>(D["movies"]).flatten()</a:t>
            </a:r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endParaRPr lang="en-US" dirty="0"/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 err="1"/>
              <a:t>best_user_position</a:t>
            </a:r>
            <a:r>
              <a:rPr lang="en-US" dirty="0"/>
              <a:t> = </a:t>
            </a:r>
            <a:r>
              <a:rPr lang="en-US" dirty="0" err="1"/>
              <a:t>best_euclidean</a:t>
            </a:r>
            <a:r>
              <a:rPr lang="en-US" dirty="0"/>
              <a:t>[0]user_13_ratings = </a:t>
            </a:r>
            <a:r>
              <a:rPr lang="en-US" dirty="0" err="1"/>
              <a:t>complete_ratings</a:t>
            </a:r>
            <a:r>
              <a:rPr lang="en-US" dirty="0"/>
              <a:t>[</a:t>
            </a:r>
            <a:r>
              <a:rPr lang="en-US" dirty="0" err="1"/>
              <a:t>best_user_position</a:t>
            </a:r>
            <a:r>
              <a:rPr lang="en-US" dirty="0"/>
              <a:t>]</a:t>
            </a:r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endParaRPr lang="en-US" dirty="0"/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/>
              <a:t> </a:t>
            </a:r>
            <a:r>
              <a:rPr lang="en-US" dirty="0" err="1"/>
              <a:t>recommendationsrecommendation_indices</a:t>
            </a:r>
            <a:r>
              <a:rPr lang="en-US" dirty="0"/>
              <a:t> = recommend(    user_13_ratings,    </a:t>
            </a:r>
            <a:r>
              <a:rPr lang="en-US" dirty="0" err="1"/>
              <a:t>trial_user</a:t>
            </a:r>
            <a:r>
              <a:rPr lang="en-US" dirty="0"/>
              <a:t>,    movies,    </a:t>
            </a:r>
            <a:r>
              <a:rPr lang="en-US" dirty="0" err="1"/>
              <a:t>top_n</a:t>
            </a:r>
            <a:r>
              <a:rPr lang="en-US" dirty="0"/>
              <a:t>=10)</a:t>
            </a:r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endParaRPr lang="en-US" dirty="0"/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/>
              <a:t>print("EUCLIDEAN RECOMMENDATIONS:")</a:t>
            </a:r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</a:t>
            </a:r>
            <a:r>
              <a:rPr lang="en-US" dirty="0" err="1"/>
              <a:t>recommendation_indices</a:t>
            </a:r>
            <a:r>
              <a:rPr lang="en-US" dirty="0"/>
              <a:t>:    </a:t>
            </a:r>
          </a:p>
          <a:p>
            <a:pPr algn="ctr">
              <a:defRPr sz="1250">
                <a:solidFill>
                  <a:srgbClr val="FAFAFA"/>
                </a:solidFill>
                <a:latin typeface="Consolas"/>
              </a:defRPr>
            </a:pPr>
            <a:r>
              <a:rPr lang="en-US" dirty="0"/>
              <a:t>print(movies[</a:t>
            </a:r>
            <a:r>
              <a:rPr lang="en-US" dirty="0" err="1"/>
              <a:t>i</a:t>
            </a:r>
            <a:r>
              <a:rPr lang="en-US" dirty="0"/>
              <a:t>])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385560" y="99441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Take the best matching user.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Find movies that this user rated 5.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Find movies already rated 5 by the query user.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Remove the already-liked movies.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rPr dirty="0"/>
              <a:t>• Return up to 10 remaining movie titles.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0591" y="4145992"/>
            <a:ext cx="6774390" cy="208407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ACD3EF3-DDB0-2AA4-1A83-54C834AB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74" y="4368546"/>
            <a:ext cx="5004620" cy="16389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10. Final Application —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20 sliders allow the user to enter movie ratings.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Quick presets: textbook trial user, random ratings, all 3s.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Run Analysis displays Euclidean and Pearson top-5 matches.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Matplotlib compares rating profiles.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Recommendation lists show Euclidean, Pearson and common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9778" y="868680"/>
            <a:ext cx="6095999" cy="5760720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0" y="37352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3741"/>
                </a:solidFill>
              </a:defRPr>
            </a:pPr>
            <a:r>
              <a:rPr dirty="0"/>
              <a:t>Run command: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644327"/>
            <a:ext cx="4389120" cy="594360"/>
          </a:xfrm>
          <a:prstGeom prst="roundRect">
            <a:avLst/>
          </a:prstGeom>
          <a:solidFill>
            <a:srgbClr val="232628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>
                <a:solidFill>
                  <a:srgbClr val="FAFAFA"/>
                </a:solidFill>
                <a:latin typeface="Consolas"/>
              </a:defRPr>
            </a:pPr>
            <a:r>
              <a:rPr dirty="0" err="1"/>
              <a:t>streamlit</a:t>
            </a:r>
            <a:r>
              <a:rPr dirty="0"/>
              <a:t> run src/app.py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41242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83741"/>
                </a:solidFill>
              </a:defRPr>
            </a:pPr>
            <a:r>
              <a:rPr dirty="0"/>
              <a:t>Demo: change a rating → Run Analysis →</a:t>
            </a:r>
            <a:endParaRPr lang="en-IN" dirty="0"/>
          </a:p>
          <a:p>
            <a:pPr>
              <a:defRPr sz="1500" b="1">
                <a:solidFill>
                  <a:srgbClr val="283741"/>
                </a:solidFill>
              </a:defRPr>
            </a:pPr>
            <a:r>
              <a:rPr dirty="0"/>
              <a:t> show similarity → show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11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528891-DC90-24F3-1AF9-E8A4586BA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281" y="1116651"/>
            <a:ext cx="5353217" cy="51661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t>11. Final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952746"/>
            <a:ext cx="3474720" cy="905551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r>
              <a:rPr dirty="0"/>
              <a:t>TOP EUCLIDEAN MATCH</a:t>
            </a:r>
            <a:br>
              <a:rPr dirty="0"/>
            </a:br>
            <a:r>
              <a:rPr dirty="0"/>
              <a:t>User: </a:t>
            </a:r>
            <a:r>
              <a:rPr lang="en-IN" dirty="0"/>
              <a:t>13</a:t>
            </a:r>
            <a:br>
              <a:rPr dirty="0"/>
            </a:br>
            <a:r>
              <a:rPr dirty="0"/>
              <a:t>Distance: </a:t>
            </a:r>
            <a:r>
              <a:rPr lang="en-IN" sz="1600" b="1" dirty="0">
                <a:solidFill>
                  <a:srgbClr val="283741"/>
                </a:solidFill>
              </a:rPr>
              <a:t>5.657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4343400" y="952746"/>
            <a:ext cx="3474720" cy="905551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83741"/>
                </a:solidFill>
              </a:defRPr>
            </a:pPr>
            <a:r>
              <a:rPr dirty="0"/>
              <a:t>TOP PEARSON MATCH</a:t>
            </a:r>
            <a:br>
              <a:rPr dirty="0"/>
            </a:br>
            <a:r>
              <a:rPr dirty="0"/>
              <a:t>User: </a:t>
            </a:r>
            <a:r>
              <a:rPr lang="en-IN" dirty="0"/>
              <a:t>87</a:t>
            </a:r>
            <a:br>
              <a:rPr dirty="0"/>
            </a:br>
            <a:r>
              <a:rPr dirty="0"/>
              <a:t>Correlation: </a:t>
            </a:r>
            <a:r>
              <a:rPr lang="en-IN" sz="1600" b="1" dirty="0">
                <a:solidFill>
                  <a:srgbClr val="283741"/>
                </a:solidFill>
              </a:rPr>
              <a:t>0.629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046720" y="952746"/>
            <a:ext cx="3383280" cy="905551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r>
              <a:rPr dirty="0"/>
              <a:t>COMMON RECOMMENDATIONS</a:t>
            </a:r>
            <a:br>
              <a:rPr dirty="0"/>
            </a:br>
            <a:r>
              <a:rPr lang="en-IN" sz="1500" b="1" dirty="0">
                <a:solidFill>
                  <a:srgbClr val="283741"/>
                </a:solidFill>
              </a:rPr>
              <a:t>Ace Ventura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04799" y="2202427"/>
            <a:ext cx="5791201" cy="4426974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309359" y="2202427"/>
            <a:ext cx="5547359" cy="4426973"/>
          </a:xfrm>
          <a:prstGeom prst="roundRect">
            <a:avLst/>
          </a:prstGeom>
          <a:solidFill>
            <a:srgbClr val="EEF3F5"/>
          </a:solidFill>
          <a:ln>
            <a:solidFill>
              <a:srgbClr val="64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283741"/>
                </a:solidFill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12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E2D916-C89D-51DC-DAA9-600E7CEF7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9406"/>
            <a:ext cx="5262225" cy="39714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99E0EE-15A7-6E4C-2299-B1384B4AE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606" y="2379406"/>
            <a:ext cx="4874834" cy="398107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34872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83741"/>
                </a:solidFill>
              </a:defRPr>
            </a:pPr>
            <a:r>
              <a:rPr dirty="0"/>
              <a:t>12.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Matrix/vector representation — ratings become mathematical vectors.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Euclidean L₂ norm — finds users with small exact-rating differences.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Mean centering — removes overall rating-level bias.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Pearson correlation — compares centered preference patterns using dot product and norms.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Recommendation step — converts the nearest-user result into movie titles.</a:t>
            </a:r>
          </a:p>
          <a:p>
            <a:pPr>
              <a:spcAft>
                <a:spcPts val="800"/>
              </a:spcAft>
              <a:defRPr sz="1600">
                <a:solidFill>
                  <a:srgbClr val="2D2D2D"/>
                </a:solidFill>
              </a:defRPr>
            </a:pPr>
            <a:r>
              <a:t>• Application output — Streamlit makes the complete pipeline interactive.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007288"/>
            <a:ext cx="45720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3237"/>
                </a:solidFill>
              </a:defRPr>
            </a:pPr>
            <a:r>
              <a:rPr lang="en-US" i="1" dirty="0"/>
              <a:t>Future scope: compare more similarity measures, improve recommendation ranking, evaluate with more users, and add stronger validation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46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696E"/>
                </a:solidFill>
              </a:defRPr>
            </a:pPr>
            <a:r>
              <a:t>13</a:t>
            </a:r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0FAEBD4-DC75-D693-5B2A-F1E5B0FB1617}"/>
              </a:ext>
            </a:extLst>
          </p:cNvPr>
          <p:cNvSpPr/>
          <p:nvPr/>
        </p:nvSpPr>
        <p:spPr>
          <a:xfrm>
            <a:off x="3383280" y="4983480"/>
            <a:ext cx="5212080" cy="640080"/>
          </a:xfrm>
          <a:prstGeom prst="roundRect">
            <a:avLst/>
          </a:prstGeom>
          <a:solidFill>
            <a:srgbClr val="E8F0F3"/>
          </a:solidFill>
          <a:ln>
            <a:solidFill>
              <a:srgbClr val="264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264653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1254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Kritika Singh</cp:lastModifiedBy>
  <cp:revision>2</cp:revision>
  <dcterms:created xsi:type="dcterms:W3CDTF">2013-01-27T09:14:16Z</dcterms:created>
  <dcterms:modified xsi:type="dcterms:W3CDTF">2026-10-04T18:52:15Z</dcterms:modified>
  <cp:category/>
</cp:coreProperties>
</file>